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932688"/>
            <a:ext cx="59436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F5F7FA"/>
                </a:solidFill>
                <a:latin typeface="Aptos"/>
              </a:rPr>
              <a:t>SITEPOINT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00784"/>
            <a:ext cx="6858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30C48D"/>
                </a:solidFill>
                <a:latin typeface="Aptos"/>
              </a:rPr>
              <a:t>Construction Site Control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6949440" cy="9601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5AEB9"/>
                </a:solidFill>
                <a:latin typeface="Aptos"/>
              </a:rPr>
              <a:t>One place to know what is happening on every site —
before small problems become expensive delays.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3703320"/>
            <a:ext cx="1234440" cy="329184"/>
          </a:xfrm>
          <a:prstGeom prst="round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3735324"/>
            <a:ext cx="1234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LIVE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3730752"/>
            <a:ext cx="5303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Role-based • Multi-site • Real-time • Evidence-driven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914400"/>
            <a:ext cx="3794760" cy="480060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28431" y="1207008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SITEPOINT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161288"/>
            <a:ext cx="1417320" cy="329184"/>
          </a:xfrm>
          <a:prstGeom prst="roundRect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46920" y="1193292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3 ACTIVE SITES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783080"/>
            <a:ext cx="3200400" cy="5486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892807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500" b="1">
                <a:solidFill>
                  <a:srgbClr val="30C48D"/>
                </a:solidFill>
                <a:latin typeface="Aptos"/>
              </a:rPr>
              <a:t>72%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514600"/>
            <a:ext cx="3200400" cy="5486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24328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500" b="1">
                <a:solidFill>
                  <a:srgbClr val="30C48D"/>
                </a:solidFill>
                <a:latin typeface="Aptos"/>
              </a:rPr>
              <a:t>18 / 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3246120"/>
            <a:ext cx="3200400" cy="5486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79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Low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55848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500" b="1">
                <a:solidFill>
                  <a:srgbClr val="F7A649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3977640"/>
            <a:ext cx="3200400" cy="5486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087368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500" b="1">
                <a:solidFill>
                  <a:srgbClr val="F7A649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617220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5AEB9"/>
                </a:solidFill>
                <a:latin typeface="Aptos"/>
              </a:rPr>
              <a:t>Pitch Deck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Construction operations are fragmented across people, chats and spreadsheets.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184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1848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29384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updates &amp; photos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28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F3944"/>
                </a:solidFill>
                <a:latin typeface="Aptos"/>
              </a:rPr>
              <a:t>↓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87752"/>
            <a:ext cx="502920" cy="502920"/>
          </a:xfrm>
          <a:prstGeom prst="ellipse">
            <a:avLst/>
          </a:prstGeom>
          <a:solidFill>
            <a:srgbClr val="F7A649"/>
          </a:solidFill>
          <a:ln>
            <a:solidFill>
              <a:srgbClr val="F7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16936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stock &amp; labour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154680"/>
            <a:ext cx="228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F3944"/>
                </a:solidFill>
                <a:latin typeface="Aptos"/>
              </a:rPr>
              <a:t>↓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75304"/>
            <a:ext cx="502920" cy="502920"/>
          </a:xfrm>
          <a:prstGeom prst="ellipse">
            <a:avLst/>
          </a:prstGeom>
          <a:solidFill>
            <a:srgbClr val="EF5F5F"/>
          </a:solidFill>
          <a:ln>
            <a:solidFill>
              <a:srgbClr val="E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9359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04488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urgent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42232"/>
            <a:ext cx="228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F3944"/>
                </a:solidFill>
                <a:latin typeface="Aptos"/>
              </a:rPr>
              <a:t>↓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62856"/>
            <a:ext cx="502920" cy="502920"/>
          </a:xfrm>
          <a:prstGeom prst="ellipse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581144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81144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92040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site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508760"/>
            <a:ext cx="6812280" cy="434340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1810512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What this creates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331720"/>
            <a:ext cx="2743200" cy="12344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56631" y="2496312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F5F5F"/>
                </a:solidFill>
                <a:latin typeface="Aptos"/>
              </a:rPr>
              <a:t>Delayed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1" y="2890616"/>
            <a:ext cx="243441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dirty="0">
                <a:solidFill>
                  <a:srgbClr val="A5AEB9"/>
                </a:solidFill>
                <a:latin typeface="Aptos"/>
              </a:rPr>
              <a:t>Managers learn about issues after the work is already affected.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2331720"/>
            <a:ext cx="2743200" cy="12344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19871" y="2496312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7A649"/>
                </a:solidFill>
                <a:latin typeface="Aptos"/>
              </a:rPr>
              <a:t>Stock surprises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0" y="2834638"/>
            <a:ext cx="2441449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5AEB9"/>
                </a:solidFill>
                <a:latin typeface="Aptos"/>
              </a:rPr>
              <a:t>Materials can run low without a clear site-level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3840479"/>
            <a:ext cx="2743200" cy="12344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56631" y="4005071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94FF"/>
                </a:solidFill>
                <a:latin typeface="Aptos"/>
              </a:rPr>
              <a:t>Weak accountability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0" y="4343399"/>
            <a:ext cx="243441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5AEB9"/>
                </a:solidFill>
                <a:latin typeface="Aptos"/>
              </a:rPr>
              <a:t>Tasks, evidence and reasons for delays are scattered.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3840479"/>
            <a:ext cx="2743200" cy="123444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19871" y="4005071"/>
            <a:ext cx="2331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30C48D"/>
                </a:solidFill>
                <a:latin typeface="Aptos"/>
              </a:rPr>
              <a:t>Cross-site blind spots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4343398"/>
            <a:ext cx="233172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Resources sit idle on one site while another needs them.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A64F8D-2CEB-12B6-A613-1B5BF953C1C7}"/>
              </a:ext>
            </a:extLst>
          </p:cNvPr>
          <p:cNvSpPr txBox="1"/>
          <p:nvPr/>
        </p:nvSpPr>
        <p:spPr>
          <a:xfrm>
            <a:off x="-509954" y="53808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SITEPOINT turns fragmented site operations into one operational control center.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1508760"/>
            <a:ext cx="3977639" cy="361188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00600" y="1874519"/>
            <a:ext cx="25603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30C48D"/>
                </a:solidFill>
                <a:latin typeface="Aptos"/>
              </a:rPr>
              <a:t>SITEPOINT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5915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Single source of operational truth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907792"/>
            <a:ext cx="297180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939796"/>
            <a:ext cx="2971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Tasks &amp;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383280"/>
            <a:ext cx="297180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415284"/>
            <a:ext cx="2971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Materials &amp;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858768"/>
            <a:ext cx="297180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890772"/>
            <a:ext cx="2971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People &amp; equipment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334256"/>
            <a:ext cx="297180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4366260"/>
            <a:ext cx="29718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Problems &amp;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874519"/>
            <a:ext cx="2743200" cy="219456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176272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4794FF"/>
                </a:solidFill>
                <a:latin typeface="Aptos"/>
              </a:rPr>
              <a:t>SITE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88920"/>
            <a:ext cx="21031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Capture work, evidence &amp; 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874519"/>
            <a:ext cx="2743200" cy="219456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2176272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7A649"/>
                </a:solidFill>
                <a:latin typeface="Aptos"/>
              </a:rPr>
              <a:t>PROJECT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788920"/>
            <a:ext cx="21031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Aptos"/>
              </a:rPr>
              <a:t>Coordinate people, tasks &amp;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8640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OWNER / BOSS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870448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A5AEB9"/>
                </a:solidFill>
                <a:latin typeface="Aptos"/>
              </a:rPr>
              <a:t>Cross-site visibility • decisions •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How SITEPOINT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From work on the ground to a decision-ready 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7168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75670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5AEB9"/>
                </a:solidFill>
                <a:latin typeface="Aptos"/>
              </a:rPr>
              <a:t>Engineer records task, stock, issue or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196596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43784" y="1828800"/>
            <a:ext cx="502920" cy="502920"/>
          </a:xfrm>
          <a:prstGeom prst="ellipse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3784" y="18470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487168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3784" y="2880360"/>
            <a:ext cx="175670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Information is tied to site, role and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196596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184648" y="1828800"/>
            <a:ext cx="502920" cy="502920"/>
          </a:xfrm>
          <a:prstGeom prst="ellipse">
            <a:avLst/>
          </a:prstGeom>
          <a:solidFill>
            <a:srgbClr val="F7A649"/>
          </a:solidFill>
          <a:ln>
            <a:solidFill>
              <a:srgbClr val="F7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4648" y="18470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487168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880360"/>
            <a:ext cx="1682144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Low stock, problems and delayed work become visible.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96596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525512" y="1828800"/>
            <a:ext cx="502920" cy="502920"/>
          </a:xfrm>
          <a:prstGeom prst="ellipse">
            <a:avLst/>
          </a:prstGeom>
          <a:solidFill>
            <a:srgbClr val="EF5F5F"/>
          </a:solidFill>
          <a:ln>
            <a:solidFill>
              <a:srgbClr val="E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25512" y="18470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487168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880360"/>
            <a:ext cx="182270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5AEB9"/>
                </a:solidFill>
                <a:latin typeface="Aptos"/>
              </a:rPr>
              <a:t>PM/Boss assigns, resolves, requests or reallocates.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196596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9866376" y="1828800"/>
            <a:ext cx="502920" cy="502920"/>
          </a:xfrm>
          <a:prstGeom prst="ellipse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66376" y="184708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B0F14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487168"/>
            <a:ext cx="2011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880360"/>
            <a:ext cx="170078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Reports and history create accountability over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63440"/>
            <a:ext cx="10881360" cy="91440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3840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0C48D"/>
                </a:solidFill>
                <a:latin typeface="Aptos"/>
              </a:rPr>
              <a:t>Evidence stays attached to the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92040"/>
            <a:ext cx="6309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Photos • videos • reports • delay reasons • stock history • task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Built around the daily workflows of a construction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62763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30C48D"/>
                </a:solidFill>
                <a:latin typeface="Aptos"/>
              </a:rPr>
              <a:t>Site &amp;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00200"/>
            <a:ext cx="303510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Daily tasks, assignments, progress, delays and completion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81328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627632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94FF"/>
                </a:solidFill>
                <a:latin typeface="Aptos"/>
              </a:rPr>
              <a:t>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00200"/>
            <a:ext cx="295351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Required / used / purchased / remaining with low-stock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51760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798064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30C48D"/>
                </a:solidFill>
                <a:latin typeface="Aptos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770631"/>
            <a:ext cx="292959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Availability, usage, maintenance and breakdown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51760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798064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94FF"/>
                </a:solidFill>
                <a:latin typeface="Aptos"/>
              </a:rPr>
              <a:t>Labour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70632"/>
            <a:ext cx="315468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Role-based workforce records and site allocation.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22191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96849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30C48D"/>
                </a:solidFill>
                <a:latin typeface="Aptos"/>
              </a:rPr>
              <a:t>Problems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3941063"/>
            <a:ext cx="315468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F5F7FA"/>
                </a:solidFill>
                <a:latin typeface="Aptos"/>
              </a:rPr>
              <a:t>Issue reporting with description, evidence and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822191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968496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94FF"/>
                </a:solidFill>
                <a:latin typeface="Aptos"/>
              </a:rPr>
              <a:t>Resource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941063"/>
            <a:ext cx="315468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Cross-site visibility when a team needs something urgently.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992624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5138928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30C48D"/>
                </a:solidFill>
                <a:latin typeface="Aptos"/>
              </a:rPr>
              <a:t>Reports &amp;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79" y="5111496"/>
            <a:ext cx="292959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Centralized project evidence, documents, photos and media.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92624"/>
            <a:ext cx="5349240" cy="932688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138928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94FF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111496"/>
            <a:ext cx="263945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F5F7FA"/>
                </a:solidFill>
                <a:latin typeface="Aptos"/>
              </a:rPr>
              <a:t>Site progress, task status, stock, </a:t>
            </a:r>
            <a:r>
              <a:rPr sz="1050" b="0" dirty="0" err="1">
                <a:solidFill>
                  <a:srgbClr val="F5F7FA"/>
                </a:solidFill>
                <a:latin typeface="Aptos"/>
              </a:rPr>
              <a:t>labour</a:t>
            </a:r>
            <a:r>
              <a:rPr sz="1050" b="0" dirty="0">
                <a:solidFill>
                  <a:srgbClr val="F5F7FA"/>
                </a:solidFill>
                <a:latin typeface="Aptos"/>
              </a:rPr>
              <a:t> and equipment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One system, three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Each role sees the information needed to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456432" cy="425196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456432" cy="109728"/>
          </a:xfrm>
          <a:prstGeom prst="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0C48D"/>
                </a:solidFill>
                <a:latin typeface="Aptos"/>
              </a:rPr>
              <a:t>BOSS /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788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All sites at a glance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Progress &amp; exceptions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People / material / equipment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Problems &amp; resource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5138928"/>
            <a:ext cx="141732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18488" y="5170932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ROLE-BASED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08760"/>
            <a:ext cx="3456432" cy="425196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16552" y="1508760"/>
            <a:ext cx="3456432" cy="109728"/>
          </a:xfrm>
          <a:prstGeom prst="rect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4794FF"/>
                </a:solidFill>
                <a:latin typeface="Aptos"/>
              </a:rPr>
              <a:t>PROJECT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60320"/>
            <a:ext cx="2788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Assigned sites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Tasks &amp; teams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Stock &amp; resources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Reports &amp; issue resolution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5138928"/>
            <a:ext cx="141732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80" y="5170932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ROLE-BASED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508760"/>
            <a:ext cx="3456432" cy="425196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38744" y="1508760"/>
            <a:ext cx="3456432" cy="109728"/>
          </a:xfrm>
          <a:prstGeom prst="rect">
            <a:avLst/>
          </a:prstGeom>
          <a:solidFill>
            <a:srgbClr val="F7A649"/>
          </a:solidFill>
          <a:ln>
            <a:solidFill>
              <a:srgbClr val="F7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1828800"/>
            <a:ext cx="29260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7A649"/>
                </a:solidFill>
                <a:latin typeface="Aptos"/>
              </a:rPr>
              <a:t>SITE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560320"/>
            <a:ext cx="2788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Today's work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Task evidence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Problems &amp; photos</a:t>
            </a:r>
          </a:p>
          <a:p>
            <a:pPr>
              <a:spcAft>
                <a:spcPts val="1200"/>
              </a:spcAft>
              <a:defRPr sz="1200">
                <a:solidFill>
                  <a:srgbClr val="F5F7FA"/>
                </a:solidFill>
                <a:latin typeface="Aptos"/>
              </a:defRPr>
            </a:pPr>
            <a:r>
              <a:t>•  Stock &amp; equipment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5138928"/>
            <a:ext cx="1417320" cy="32918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5170932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ROLE-BASED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Why SITEPOINT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A focused operating layer for teams that don't need an enterprise maze.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530352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Typical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074920" cy="530352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SITEPOINT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951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A5AEB9"/>
                </a:solidFill>
                <a:latin typeface="Aptos"/>
              </a:rPr>
              <a:t>WhatsApp +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951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Structured site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28346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809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A5AEB9"/>
                </a:solidFill>
                <a:latin typeface="Aptos"/>
              </a:rPr>
              <a:t>Updates scattered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809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Evidence attached to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667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A5AEB9"/>
                </a:solidFill>
                <a:latin typeface="Aptos"/>
              </a:rPr>
              <a:t>Single-site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667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Multi-site control 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062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72200" y="42062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3525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A5AEB9"/>
                </a:solidFill>
                <a:latin typeface="Aptos"/>
              </a:rPr>
              <a:t>Issues discussed 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525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Exceptions surfaced early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4892040"/>
            <a:ext cx="5074920" cy="53035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0383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A5AEB9"/>
                </a:solidFill>
                <a:latin typeface="Aptos"/>
              </a:rPr>
              <a:t>Heavy enterprise tooling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38344"/>
            <a:ext cx="4709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Aptos"/>
              </a:rPr>
              <a:t>Focused MVP for field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5806440"/>
            <a:ext cx="914400" cy="329184"/>
          </a:xfrm>
          <a:prstGeom prst="round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5838444"/>
            <a:ext cx="914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SIMPLE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5806440"/>
            <a:ext cx="1143000" cy="329184"/>
          </a:xfrm>
          <a:prstGeom prst="roundRect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0" y="5838444"/>
            <a:ext cx="11430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FIELD-FIRST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5806440"/>
            <a:ext cx="1508760" cy="329184"/>
          </a:xfrm>
          <a:prstGeom prst="roundRect">
            <a:avLst/>
          </a:prstGeom>
          <a:solidFill>
            <a:srgbClr val="F7A649"/>
          </a:solidFill>
          <a:ln>
            <a:solidFill>
              <a:srgbClr val="F7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4848" y="5838444"/>
            <a:ext cx="150876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EVIDENCE-DRIVEN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Built for a real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A practical web stack with role and company isolation.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1600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1600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1600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Express + Node.js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600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1600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PostgreSQL + Drizzle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2743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2743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JWT + bcrypt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606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743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Realtime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2743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Server-Sent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06040"/>
            <a:ext cx="3429000" cy="89611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74320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0C48D"/>
                </a:solidFill>
                <a:latin typeface="Aptos"/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743200"/>
            <a:ext cx="187451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GitHub → Render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10881360" cy="1508760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142232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Security &amp; 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41648"/>
            <a:ext cx="79552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 Company-scoped authorization</a:t>
            </a:r>
          </a:p>
          <a:p>
            <a:pPr>
              <a:spcAft>
                <a:spcPts val="5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 Role-based access</a:t>
            </a:r>
          </a:p>
          <a:p>
            <a:pPr>
              <a:spcAft>
                <a:spcPts val="5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 Company-scoped realtime events</a:t>
            </a:r>
          </a:p>
          <a:p>
            <a:pPr>
              <a:spcAft>
                <a:spcPts val="5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 Protected file access</a:t>
            </a:r>
          </a:p>
          <a:p>
            <a:pPr>
              <a:spcAft>
                <a:spcPts val="500"/>
              </a:spcAft>
              <a:defRPr sz="1150">
                <a:solidFill>
                  <a:srgbClr val="F5F7FA"/>
                </a:solidFill>
                <a:latin typeface="Aptos"/>
              </a:defRPr>
            </a:pPr>
            <a:r>
              <a:t>•  Production environment secrets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806440"/>
            <a:ext cx="1417320" cy="329184"/>
          </a:xfrm>
          <a:prstGeom prst="round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5838444"/>
            <a:ext cx="14173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LIVE ON 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36208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A5AEB9"/>
                </a:solidFill>
                <a:latin typeface="Aptos"/>
              </a:rPr>
              <a:t>The deployed site is reachable over HTTPS; TLS certificate validation passed in the supplied external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9966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Business model &amp;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5156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A5AEB9"/>
                </a:solidFill>
                <a:latin typeface="Aptos"/>
              </a:rPr>
              <a:t>Start narrow: prove operational value on real sites, then expand.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75488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AEB9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468880" cy="107899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21396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30C48D"/>
                </a:solidFill>
                <a:latin typeface="Aptos"/>
              </a:rPr>
              <a:t>B2B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84832"/>
            <a:ext cx="21396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Subscription per company /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468880" cy="107899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600200"/>
            <a:ext cx="21396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30C48D"/>
                </a:solidFill>
                <a:latin typeface="Aptos"/>
              </a:rPr>
              <a:t>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084832"/>
            <a:ext cx="21396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5–10 users per company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63040"/>
            <a:ext cx="2468880" cy="107899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1" y="1600200"/>
            <a:ext cx="21396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30C48D"/>
                </a:solidFill>
                <a:latin typeface="Aptos"/>
              </a:rPr>
              <a:t>Land &amp; expand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084832"/>
            <a:ext cx="21396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More sites → more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63040"/>
            <a:ext cx="2468880" cy="1078992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7112" y="1600200"/>
            <a:ext cx="21396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30C48D"/>
                </a:solidFill>
                <a:latin typeface="Aptos"/>
              </a:rPr>
              <a:t>Upsell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084832"/>
            <a:ext cx="213969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5AEB9"/>
                </a:solidFill>
                <a:latin typeface="Aptos"/>
              </a:rPr>
              <a:t>Advanced reports &amp;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Expansion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914400" cy="329184"/>
          </a:xfrm>
          <a:prstGeom prst="round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35324"/>
            <a:ext cx="914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24528"/>
            <a:ext cx="2331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Site control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3749039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703320"/>
            <a:ext cx="914400" cy="329184"/>
          </a:xfrm>
          <a:prstGeom prst="roundRect">
            <a:avLst/>
          </a:prstGeom>
          <a:solidFill>
            <a:srgbClr val="4794FF"/>
          </a:solidFill>
          <a:ln>
            <a:solidFill>
              <a:srgbClr val="47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3735324"/>
            <a:ext cx="914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5F7FA"/>
                </a:solidFill>
                <a:latin typeface="Aptos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224528"/>
            <a:ext cx="2331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Approvals &amp; deeper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3749039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914400" cy="329184"/>
          </a:xfrm>
          <a:prstGeom prst="roundRect">
            <a:avLst/>
          </a:prstGeom>
          <a:solidFill>
            <a:srgbClr val="F7A649"/>
          </a:solidFill>
          <a:ln>
            <a:solidFill>
              <a:srgbClr val="F7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735324"/>
            <a:ext cx="914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24528"/>
            <a:ext cx="2331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Billing / procurement integrations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7" y="3749039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F394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59" y="3703320"/>
            <a:ext cx="914400" cy="329184"/>
          </a:xfrm>
          <a:prstGeom prst="roundRect">
            <a:avLst/>
          </a:prstGeom>
          <a:solidFill>
            <a:srgbClr val="EF5F5F"/>
          </a:solidFill>
          <a:ln>
            <a:solidFill>
              <a:srgbClr val="E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59" y="3735324"/>
            <a:ext cx="9144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4224528"/>
            <a:ext cx="23317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Aptos"/>
              </a:rPr>
              <a:t>Multi-company ecosystem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57800"/>
            <a:ext cx="10698480" cy="77724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1887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0C48D"/>
                </a:solidFill>
                <a:latin typeface="Aptos"/>
              </a:rPr>
              <a:t>Core thesis: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413248"/>
            <a:ext cx="89154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If the site team captures the right evidence once, management can make faster decisions from the same 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41148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5F7FA"/>
                </a:solidFill>
                <a:latin typeface="Aptos"/>
              </a:rPr>
              <a:t>SITEPOINT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5943600" cy="1828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30C48D"/>
                </a:solidFill>
                <a:latin typeface="Aptos"/>
              </a:rPr>
              <a:t>Know the site.
Control the work.
Act before the delay.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794760"/>
            <a:ext cx="5669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A5AEB9"/>
                </a:solidFill>
                <a:latin typeface="Aptos"/>
              </a:rPr>
              <a:t>From fragmented updates to one operational source of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617720"/>
            <a:ext cx="1143000" cy="329184"/>
          </a:xfrm>
          <a:prstGeom prst="roundRect">
            <a:avLst/>
          </a:prstGeom>
          <a:solidFill>
            <a:srgbClr val="30C48D"/>
          </a:solidFill>
          <a:ln>
            <a:solidFill>
              <a:srgbClr val="30C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649724"/>
            <a:ext cx="114300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Aptos"/>
              </a:rPr>
              <a:t>LIVE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4645152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sitepoint.onrender.com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14400"/>
            <a:ext cx="4069080" cy="4480560"/>
          </a:xfrm>
          <a:prstGeom prst="roundRect">
            <a:avLst/>
          </a:prstGeom>
          <a:solidFill>
            <a:srgbClr val="131920"/>
          </a:solidFill>
          <a:ln>
            <a:solidFill>
              <a:srgbClr val="13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325880"/>
            <a:ext cx="3246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Aptos"/>
              </a:rPr>
              <a:t>SITEPOINT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65960"/>
            <a:ext cx="3063240" cy="51206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2093976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Active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066543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30C48D"/>
                </a:solidFill>
                <a:latin typeface="Aptos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679191"/>
            <a:ext cx="3063240" cy="51206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431" y="28072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79775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30C48D"/>
                </a:solidFill>
                <a:latin typeface="Aptos"/>
              </a:rPr>
              <a:t>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392424"/>
            <a:ext cx="3063240" cy="51206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431" y="352044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Stock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493008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30C48D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105656"/>
            <a:ext cx="3063240" cy="512064"/>
          </a:xfrm>
          <a:prstGeom prst="roundRect">
            <a:avLst/>
          </a:prstGeom>
          <a:solidFill>
            <a:srgbClr val="192029"/>
          </a:solidFill>
          <a:ln>
            <a:solidFill>
              <a:srgbClr val="192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4233672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A5AEB9"/>
                </a:solidFill>
                <a:latin typeface="Aptos"/>
              </a:rPr>
              <a:t>Open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206240"/>
            <a:ext cx="502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30C48D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92040"/>
            <a:ext cx="3063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Construction operations, simplified.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0807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5AEB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756</Words>
  <Application>Microsoft Office PowerPoint</Application>
  <PresentationFormat>Widescreen</PresentationFormat>
  <Paragraphs>204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 bhayani</cp:lastModifiedBy>
  <cp:revision>2</cp:revision>
  <dcterms:created xsi:type="dcterms:W3CDTF">2013-01-27T09:14:16Z</dcterms:created>
  <dcterms:modified xsi:type="dcterms:W3CDTF">2026-09-24T09:41:45Z</dcterms:modified>
  <cp:category/>
</cp:coreProperties>
</file>